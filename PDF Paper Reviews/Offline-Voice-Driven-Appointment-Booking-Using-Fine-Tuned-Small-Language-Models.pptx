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5.png"/><Relationship Id="rId8" Type="http://schemas.openxmlformats.org/officeDocument/2006/relationships/image" Target="../media/image-4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377752"/>
            <a:ext cx="4574465" cy="355203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007ebd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774879" y="1434405"/>
            <a:ext cx="4957242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MSC DATA SCIENCE · GROUP 6 · UWE BRISTOL · 2026-2027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808559"/>
            <a:ext cx="6296860" cy="248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Offline Voice-Driven Appointment Booking Using Fine-Tuned Small Language Models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61475" y="457289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 3B-parameter model, fine-tuned on 600 domain samples, achieve acceptable accuracy for structured appointment management with no cloud connection required?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460"/>
            <a:ext cx="1796410" cy="223341"/>
          </a:xfrm>
          <a:prstGeom prst="roundRect">
            <a:avLst>
              <a:gd name="adj" fmla="val 1990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007eb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40848" y="578148"/>
            <a:ext cx="2247248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0: PROBLEM DEFINITION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98810"/>
            <a:ext cx="8063802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Existing Voice Booking Systems Fail SMEs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91357"/>
            <a:ext cx="3691044" cy="3691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523" y="1464469"/>
            <a:ext cx="264689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Motivation for the system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63523" y="1774031"/>
            <a:ext cx="527304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constraints create the need for an offline voice booking system that handles structured appointments reliably, affordably, and without sending sensitive data to the cloud.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63523" y="2406551"/>
            <a:ext cx="2346167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Research Question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63523" y="2716113"/>
            <a:ext cx="527304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 small fine-tuned model replace cloud NLU for structured voice booking with no internet required?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523" y="3168650"/>
            <a:ext cx="242177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Research Contribution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63523" y="3478213"/>
            <a:ext cx="5273047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pipeline running entirely on CPU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Fine-tuning a 3B model with 600 synthetic samples for structured JSON actions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models achieve near-perfect structured accuracy with domain-specific training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63523" y="4355405"/>
            <a:ext cx="2474355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Ethical and Legal Notes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63523" y="4664968"/>
            <a:ext cx="5273047" cy="604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personal data leaves the device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training data avoids privacy risks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storage of caller audio or metadata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1475" y="5440859"/>
            <a:ext cx="3388136" cy="347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61475" y="5927130"/>
            <a:ext cx="10868745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Kraus et al. (2022) "Artificial intelligence in small and medium enterprises" - J. Small Bus. Manage.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Nguyen et al. (2022) "Understanding SME adoption of AI: A TOE framework" - Technol. Forecast. Soc. Change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270"/>
            <a:ext cx="7683407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Rule-Based IVR to Fine-Tuned Language Models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6089498" y="1060847"/>
            <a:ext cx="12700" cy="4076303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4" name="Shape 2"/>
          <p:cNvSpPr/>
          <p:nvPr/>
        </p:nvSpPr>
        <p:spPr>
          <a:xfrm>
            <a:off x="5889775" y="1177528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5" name="Shape 3"/>
          <p:cNvSpPr/>
          <p:nvPr/>
        </p:nvSpPr>
        <p:spPr>
          <a:xfrm>
            <a:off x="6054822" y="1142851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4222049" y="1098451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1316037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Speech - Mozilla's open-source neural speech recognition, moving away from speaker-dependent systems.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83148" y="1741785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9" name="Shape 7"/>
          <p:cNvSpPr/>
          <p:nvPr/>
        </p:nvSpPr>
        <p:spPr>
          <a:xfrm>
            <a:off x="6054822" y="1707108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10" name="Text 8"/>
          <p:cNvSpPr/>
          <p:nvPr/>
        </p:nvSpPr>
        <p:spPr>
          <a:xfrm>
            <a:off x="6533490" y="1662708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2015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3490" y="1880295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LibriSpeech benchmark (Panayotov et al.) - Standardized evaluation dataset enabling reproducible speech recognition research.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89775" y="2261592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4822" y="2226915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14" name="Text 12"/>
          <p:cNvSpPr/>
          <p:nvPr/>
        </p:nvSpPr>
        <p:spPr>
          <a:xfrm>
            <a:off x="4222049" y="2182515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475" y="2400102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 (Hu et al.) - Parameter-efficient fine-tuning method enabling adaptation of large models with minimal compute.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3148" y="2781399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054822" y="2746722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18" name="Text 16"/>
          <p:cNvSpPr/>
          <p:nvPr/>
        </p:nvSpPr>
        <p:spPr>
          <a:xfrm>
            <a:off x="6533490" y="2702322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3490" y="2919909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Whisper, OpenAI (Radford et al.) - Robust, multilingual speech recognition trained on 680k hours of web audio.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89775" y="3301206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54822" y="3266529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22" name="Text 20"/>
          <p:cNvSpPr/>
          <p:nvPr/>
        </p:nvSpPr>
        <p:spPr>
          <a:xfrm>
            <a:off x="4222049" y="3222129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475" y="3439716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QLoRA (Dettmers et al.) - Llama 3.2 3B, Meta - Quantized LoRA enabling fine-tuning of 3B models on consumer GPUs.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83148" y="3821013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54822" y="3786336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26" name="Text 24"/>
          <p:cNvSpPr/>
          <p:nvPr/>
        </p:nvSpPr>
        <p:spPr>
          <a:xfrm>
            <a:off x="6533490" y="3741936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3490" y="3959523"/>
            <a:ext cx="4996730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Faster-Whisper, SYSTRAN - Optimized Whisper inference for CPU-only deployment.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89775" y="4340820"/>
            <a:ext cx="218772" cy="12700"/>
          </a:xfrm>
          <a:prstGeom prst="roundRect">
            <a:avLst>
              <a:gd name="adj" fmla="val 361874"/>
            </a:avLst>
          </a:prstGeom>
          <a:solidFill>
            <a:srgbClr val="B2D4E5"/>
          </a:solidFill>
          <a:ln/>
        </p:spPr>
      </p:sp>
      <p:sp>
        <p:nvSpPr>
          <p:cNvPr id="29" name="Shape 27"/>
          <p:cNvSpPr/>
          <p:nvPr/>
        </p:nvSpPr>
        <p:spPr>
          <a:xfrm>
            <a:off x="6054822" y="4306143"/>
            <a:ext cx="82052" cy="82054"/>
          </a:xfrm>
          <a:prstGeom prst="roundRect">
            <a:avLst>
              <a:gd name="adj" fmla="val 464328"/>
            </a:avLst>
          </a:prstGeom>
          <a:solidFill>
            <a:srgbClr val="007EBD"/>
          </a:solidFill>
          <a:ln/>
        </p:spPr>
      </p:sp>
      <p:sp>
        <p:nvSpPr>
          <p:cNvPr id="30" name="Text 28"/>
          <p:cNvSpPr/>
          <p:nvPr/>
        </p:nvSpPr>
        <p:spPr>
          <a:xfrm>
            <a:off x="4222049" y="4261743"/>
            <a:ext cx="1436155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2026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1475" y="4479330"/>
            <a:ext cx="499673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- Offline voice-driven appointment booking using fine-tuned 3B models on commodity hardware.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61475" y="5208389"/>
            <a:ext cx="11478330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neural speech recognition (2012) to fine-tuned small models (2026), the field has shifted toward domain-adaptive models that can run offline.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1475" y="5441553"/>
            <a:ext cx="2907434" cy="28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1475" y="5823744"/>
            <a:ext cx="10868745" cy="458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Radford et al. (2023) "Robust speech recognition via large-scale weak supervision" - ICML [Whisper].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 et al. (2022) "LoRA: Low-rank adaptation of large language models" - ICLR.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Dettmers et al. (2023) "QLoRA: Efficient finetuning of quantized LLMs" - NeurIPS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515"/>
            <a:ext cx="1147833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Focus: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Phase 3 (Fine-Tuned LLM). Phase 4 (TTS) and backend calendar cache are also implemented.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988516"/>
            <a:ext cx="5950496" cy="488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System Pipeline: 4 Phases</a:t>
            </a:r>
            <a:endParaRPr lang="en-US" sz="3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52687"/>
            <a:ext cx="5375736" cy="12778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37724" y="175220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29349" y="2235398"/>
            <a:ext cx="2507989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1: Speech Recognition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9349" y="2549823"/>
            <a:ext cx="503998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Faster-Whisper CPU-only, WER 8.5%.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4385" y="1652687"/>
            <a:ext cx="5375835" cy="12778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30635" y="175220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322259" y="2235398"/>
            <a:ext cx="3130769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2: Named Entity Recognition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322259" y="2549823"/>
            <a:ext cx="5040087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spaCy extracts DATE, TIME, SERVICE, PERSON.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47702"/>
            <a:ext cx="5375736" cy="14906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37724" y="3147219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9349" y="3630414"/>
            <a:ext cx="3055464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3: Fine-Tuned LLM </a:t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[FOCUS]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9349" y="3944838"/>
            <a:ext cx="503998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QLoRA Llama 3.2 3B outputs JSON actions.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4385" y="3047702"/>
            <a:ext cx="5375835" cy="14906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30635" y="3147219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6322259" y="3630414"/>
            <a:ext cx="315388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4: Text-to-Speech &amp; Calendar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322259" y="3944838"/>
            <a:ext cx="5040087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Piper TTS, VITS via ONNX runtime, CPU-only. Backend calendar cache manages availability.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61475" y="4670227"/>
            <a:ext cx="10868745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phase runs on CPU with no cloud dependency. The pipeline is GDPR-compliant and deployable on standard hardware. Total latency is approximately 4 seconds.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61475" y="5271691"/>
            <a:ext cx="3735393" cy="3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2450" dirty="0"/>
          </a:p>
        </p:txBody>
      </p:sp>
      <p:sp>
        <p:nvSpPr>
          <p:cNvPr id="22" name="Text 16"/>
          <p:cNvSpPr/>
          <p:nvPr/>
        </p:nvSpPr>
        <p:spPr>
          <a:xfrm>
            <a:off x="661475" y="5838230"/>
            <a:ext cx="10868745" cy="466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Radford et al. (2023) "Robust speech recognition via large-scale weak supervision" - ICML [Whisper/Faster-Whisper].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Dettmers et al. (2023) "QLoRA: Efficient finetuning of quantized LLMs" - NeurIPS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0273"/>
            <a:ext cx="1956148" cy="243681"/>
          </a:xfrm>
          <a:prstGeom prst="roundRect">
            <a:avLst>
              <a:gd name="adj" fmla="val 19547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007eb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46503" y="642739"/>
            <a:ext cx="2395676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SPEECH RECOGNITION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86420"/>
            <a:ext cx="7452233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Speech Recognition: Benchmark Results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30561"/>
            <a:ext cx="4618914" cy="30869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72245" y="1617266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Interpreting WER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172245" y="1955998"/>
            <a:ext cx="4364226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 measures the percentage of words transcribed incorrectly. Faster-Whisper small matches original Whisper at 8.5% WER, while delivering 4x faster CPU inference, which is essential for real-time voice interaction. Original Whisper requires 4.5 seconds per utterance; Faster-Whisper achieves this in about 1 second on commodity hardware.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72245" y="3266182"/>
            <a:ext cx="4364226" cy="1055886"/>
          </a:xfrm>
          <a:prstGeom prst="roundRect">
            <a:avLst>
              <a:gd name="adj" fmla="val 5639"/>
            </a:avLst>
          </a:prstGeom>
          <a:solidFill>
            <a:srgbClr val="CCEE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926" y="3471664"/>
            <a:ext cx="177200" cy="1416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32807" y="3397250"/>
            <a:ext cx="376198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trade-off: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Tiny achieves 17.3% WER at 0.53 s latency; small achieves 8.5% WER at 4.5 s. Tiny was selected to balance accuracy against real-time responsiveness on CPU.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72245" y="4441627"/>
            <a:ext cx="436422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telephony WER is typically 15-25% due to noise and accents. Downstream NER and LLM steps absorb many word-level errors through contextual inference.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61475" y="5292030"/>
            <a:ext cx="3586569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661475" y="5823645"/>
            <a:ext cx="10868745" cy="43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Radford et al. (2023) "Robust speech recognition via large-scale weak supervision" - ICML.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 et al. (2021) "Real-time inference in production ML systems" - VLDB (latency threshold justification)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6801"/>
            <a:ext cx="2547874" cy="203398"/>
          </a:xfrm>
          <a:prstGeom prst="roundRect">
            <a:avLst>
              <a:gd name="adj" fmla="val 20296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633611"/>
            <a:ext cx="3010222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FINE-TUNED LLM - EVALUATION DESIGN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32048"/>
            <a:ext cx="5835008" cy="40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Fine-Tuning and Evaluation Design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1996976"/>
            <a:ext cx="2222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QLoRA Method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2278261"/>
            <a:ext cx="5284556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QLoRA quantises the backbone to 4-bit NF4 (2 GB), then trains rank-16 LoRA adapters. Settings: rank=16, lora_alpha=32.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2763441"/>
            <a:ext cx="222214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Evaluation Design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1475" y="3044726"/>
            <a:ext cx="5284556" cy="1288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480 training samples, 60 validation samples per model. Separate 480-sample evaluation set: 120 samples per condition (Phi-3 vanilla, Phi-3 fine-tuned, Llama 3.2 vanilla, Llama 3.2 fine-tuned).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time: 60-70 minutes per model on Kaggle T4 GPU (free tier). Data: 600 synthetic samples (Claude Opus-4, Anthropic 2024). Primary metric: action accuracy.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014" y="1444724"/>
            <a:ext cx="3432387" cy="34324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1475" y="5086747"/>
            <a:ext cx="3189605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1475" y="5528965"/>
            <a:ext cx="10868745" cy="732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 et al. (2022) "LoRA: Low-rank adaptation of large language models" - ICLR.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Dettmers et al. (2023) "QLoRA: Efficient finetuning of quantized LLMs" - NeurIPS.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Research (2024) "Phi-3 technical report" - arXiv:2404.14219.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AI (2024) "Llama 3.2: Open Foundation and Gradient Models"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9826"/>
            <a:ext cx="647882" cy="243681"/>
          </a:xfrm>
          <a:prstGeom prst="roundRect">
            <a:avLst>
              <a:gd name="adj" fmla="val 19547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712291"/>
            <a:ext cx="108741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55973"/>
            <a:ext cx="10789968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Fine-Tuning Transforms Failure into Near-Perfect Accuracy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00113"/>
            <a:ext cx="4955257" cy="32031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802" y="1686818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H1 Confirmed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620802" y="2025551"/>
            <a:ext cx="452525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Fine-tuned models exceed the 90% accuracy threshold.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20802" y="2330252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H2 Confirmed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20802" y="2668984"/>
            <a:ext cx="452525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models fail completely (0.0% to 0.4%).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20802" y="2973685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H3 Confirmed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20802" y="3312418"/>
            <a:ext cx="3915669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models respond in natural language instead of JSON. Fine-tuning on 600 examples teaches the model to produce valid structured output every time. Task-specific training, not model size, determines suitability for structured NLU.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20802" y="4424164"/>
            <a:ext cx="3915669" cy="659011"/>
          </a:xfrm>
          <a:prstGeom prst="roundRect">
            <a:avLst>
              <a:gd name="adj" fmla="val 9035"/>
            </a:avLst>
          </a:prstGeom>
          <a:solidFill>
            <a:srgbClr val="B6FCB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482" y="4629646"/>
            <a:ext cx="177200" cy="1416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81363" y="4555232"/>
            <a:ext cx="331342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3.2 fine-tuned outperforms Phi-3 fine-tuned.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61475" y="5362178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61475" y="5754092"/>
            <a:ext cx="10868745" cy="43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Dettmers et al. (2023) "QLoRA: Efficient finetuning of quantized LLMs" - NeurIPS.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 et al. (2022) "LoRA: Low-rank adaptation of large language models" - ICLR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6545"/>
            <a:ext cx="2592025" cy="243681"/>
          </a:xfrm>
          <a:prstGeom prst="roundRect">
            <a:avLst>
              <a:gd name="adj" fmla="val 19547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659011"/>
            <a:ext cx="3031553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 TEXT-TO-SPEECH &amp; INTEGRATION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02692"/>
            <a:ext cx="4330790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in Action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46833"/>
            <a:ext cx="3273145" cy="2181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77919" y="2073077"/>
            <a:ext cx="269481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Conversation Transcript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377919" y="2411809"/>
            <a:ext cx="615855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captures the name, checks the calendar, suggests a slot, confirms the booking, and plays a spoken TTS response - all on CPU, no cloud.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77919" y="2928243"/>
            <a:ext cx="6158552" cy="460573"/>
          </a:xfrm>
          <a:prstGeom prst="roundRect">
            <a:avLst>
              <a:gd name="adj" fmla="val 12928"/>
            </a:avLst>
          </a:prstGeom>
          <a:solidFill>
            <a:srgbClr val="CCEE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599" y="3133725"/>
            <a:ext cx="177200" cy="1416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38481" y="3059311"/>
            <a:ext cx="61658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demo: [link to be added before viva]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067473"/>
            <a:ext cx="2637466" cy="10488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3156" y="4209157"/>
            <a:ext cx="23541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"Book me in Monday"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202" y="4067473"/>
            <a:ext cx="2637466" cy="10488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46882" y="4209157"/>
            <a:ext cx="235410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Assistant: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"Next available slot is Monday at 9:00 AM. Does that work?"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928" y="4067473"/>
            <a:ext cx="2637466" cy="10488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90609" y="4209157"/>
            <a:ext cx="23541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"Yes"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2655" y="4067473"/>
            <a:ext cx="2637565" cy="104884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034336" y="4209157"/>
            <a:ext cx="235420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Assistant: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"Confirmed. Your appointment is booked for Monday 9:00 AM."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661475" y="5275759"/>
            <a:ext cx="3586569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References</a:t>
            </a:r>
            <a:endParaRPr lang="en-US" sz="2300" dirty="0"/>
          </a:p>
        </p:txBody>
      </p:sp>
      <p:sp>
        <p:nvSpPr>
          <p:cNvPr id="20" name="Text 12"/>
          <p:cNvSpPr/>
          <p:nvPr/>
        </p:nvSpPr>
        <p:spPr>
          <a:xfrm>
            <a:off x="661475" y="5807373"/>
            <a:ext cx="10868745" cy="43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Shen et al. (2021) "Towards End-to-End Speech Recognition with Hierarchical Phoneme and Grapheme Representations" - End-to-end pipeline design.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Zen et al. (2019) "Unified Voice Conversion with Conditional VAE and Adversarial Learning" - TTS synthesis.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93998"/>
            <a:ext cx="2458281" cy="355203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50652"/>
            <a:ext cx="2841058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&amp; FUTURE 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24806"/>
            <a:ext cx="8391613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Limitations and Future Directions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525350" y="2528491"/>
            <a:ext cx="5476043" cy="3135412"/>
          </a:xfrm>
          <a:prstGeom prst="roundRect">
            <a:avLst>
              <a:gd name="adj" fmla="val 4341"/>
            </a:avLst>
          </a:prstGeom>
          <a:solidFill>
            <a:srgbClr val="F3F8FC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717502"/>
            <a:ext cx="309038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Limitations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14357" y="3216573"/>
            <a:ext cx="5098029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STT tested only on clean speech - WER is higher on telephony audio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is a mock - no integration with real practice systems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data is synthetic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 latency is approximately 3.5 seconds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multi-party call support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6651" y="2528491"/>
            <a:ext cx="5476043" cy="3135412"/>
          </a:xfrm>
          <a:prstGeom prst="roundRect">
            <a:avLst>
              <a:gd name="adj" fmla="val 4341"/>
            </a:avLst>
          </a:prstGeom>
          <a:solidFill>
            <a:srgbClr val="F3F8FC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85658" y="2717502"/>
            <a:ext cx="309038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Work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385658" y="3216573"/>
            <a:ext cx="5098029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telephony integration (SIP/PSTN)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Continual learning from consented call logs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support - Whisper supports 99 languages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with GPT-4o on structured output quality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6061"/>
            <a:ext cx="4574465" cy="355203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007eb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74879" y="1242715"/>
            <a:ext cx="4957242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MSC DATA SCIENCE · GROUP 6 · UWE BRISTOL · 2026-2027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16869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61475" y="2520553"/>
            <a:ext cx="3496877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2715915"/>
            <a:ext cx="3106164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 · Fine-Tuning Turns Failure into Reliability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56832" y="3449439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models score 0.0-0.4%. Fine-tuned models score 98.1-99.8%. The improvement is absolute.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520553"/>
            <a:ext cx="3496877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2716" y="2715915"/>
            <a:ext cx="3106164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 · 600 Synthetic Samples Are Sufficient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42716" y="344943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takes 60-70 minutes on a free Kaggle GPU.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520553"/>
            <a:ext cx="3496877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8600" y="2715915"/>
            <a:ext cx="3106164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 · Offline Deployment Is Viable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228600" y="3449439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pipeline runs on CPU with no cloud dependency, satisfying GDPR constraints.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1475" y="50671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models are not unsuitable for structured tasks. They are undertrained for them. Domain-specific fine-tuning closes the gap.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2026-06-24T19:51:17Z</dcterms:created>
  <dcterms:modified xsi:type="dcterms:W3CDTF">2026-06-24T19:51:17Z</dcterms:modified>
</cp:coreProperties>
</file>