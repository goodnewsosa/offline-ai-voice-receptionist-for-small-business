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059A-7B42-4176-8B30-978C29D5B55D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52882-C261-4BB7-BB05-E66E0949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5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D7D6-411C-887F-7CCC-D2DF5E70D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57379-DCE3-C1D6-DB16-FEED55232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14C14-41D0-1CF8-8C67-BC36D6A4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50F05-1A03-CABF-0CFE-2204A590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E6D6-4C2B-BB5A-122B-361C8E45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9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A92E-F828-B65D-0984-594CE8DF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0D35E-CC74-85F6-DDCD-8687B675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7C9C-626C-E7CE-90D2-62BF87FE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AAAB-677D-DBC8-5C11-FFF428F6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1C4A-F7A8-AA49-67F7-9D9B88D2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9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107F-4040-4453-3957-E5B2C75D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645B2-8AD9-097A-D053-E94980E24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2F68B-B99C-EDE9-AC21-4327F287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F8C0A-9FF5-59AE-7CE6-72D82E9F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E2083-C6FC-A335-1129-317A9A67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3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71B1-E584-7BDD-B304-3B45855E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BF43-287C-7EAF-1A7F-3F50A553E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AA562-A51A-E27F-5AA7-7539CBF7B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245C-8CDA-6CD8-8F2A-41C50091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E9BC7-E7FF-500A-B8F6-456D0622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FA31-D96C-4AB7-4D9C-A5D0D764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6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A03E-F981-E01A-8D6C-8DD8EA7E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0D10-1B2F-001E-A2B5-6B365C5C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F3B8D-2526-32FB-0825-93CF981D0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A232C-0BA4-C4A7-811C-97C73B667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68600-F300-EC01-95FF-EE2EC3D75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8B73F-EBFF-5DAE-7430-726E25D4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F9F9B-4263-8C64-CC7F-A9C2B494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517E6-5A21-103A-0713-61A0997D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2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E29F-68D3-1BF9-8CD1-A1B4DD167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BE06C-4057-CF28-E9F4-684582C1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C1C91-D1E9-3F81-65A6-6A0CE8E3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1B9B4-CA2F-47E9-65D0-B57B2372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9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3B61D-9CB2-981F-5F92-5AE2C791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35E1C-E2F2-EBFC-E52D-23785E33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D3A68-F27B-59C6-F9D7-9430D45D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4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5ECF-6082-F473-0CB8-26C84FDB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D9F3-9DA3-8386-C425-285F53328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C54BD-137B-F360-C703-B174D43A1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B3F71-BE62-CDBF-DA3B-3C5A1D8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BAFC1-2F10-9FEA-CB1E-4C7F9FA9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0F2B5-8990-63E2-60F2-03CF3587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3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CB3F-7BF7-C411-B779-5135954C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A8407-8ABF-0313-0E4C-EA25325D2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B2E0D-EF39-5D19-6570-966505B2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DABEF-E79F-73B1-6369-48FE3790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07632-F8A7-6FD9-853D-2782D4736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C8F28-F125-0DF0-84E2-CEDA01C3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3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1BF0-6436-25ED-63BA-3BF4DF99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7D143-209E-3680-AB0F-78E87B2CB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7649-CC2B-8994-7CCE-E4C56974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0599A-D0A3-1A7D-FBCA-DDCFD173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D771-DC1F-FD4D-65FE-CE966461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1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6A39A-D662-71CC-740B-F90F268AD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01287-1519-4190-A64F-35C5DC683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D24C1-6F66-8C24-735E-0B7D288D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B875-086D-5DF6-98BE-3D3CBB1D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DE118-D229-0268-D390-A7F157CD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1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45362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2DBD3-7E0F-2614-44AA-92FD35B1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964E8-6D12-842E-1A7B-DF09272E6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C9D94-A580-2E08-6FA9-404F4A38D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1A08-1137-45DB-8FCE-07829ABF486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A1B3C-4AC7-BDB1-75DB-EDDB26003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FCDA-F9DC-02BE-38E5-E3AE097AC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49C4C-FD8E-4029-BEE4-F85C6AE3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2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hyperlink" Target="https://uweacuk-my.sharepoint.com/:v:/r/personal/karen2_homayounfar_live_uwe_ac_uk/Documents/UWE%20Main/Team%206%20-%20Shared%20Data%20(Audio%20+%20PDFs)/Videos/Mock_vivia_30th/sme-demo-final.mp4?csf=1&amp;web=1&amp;e=hVsMWG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377752"/>
            <a:ext cx="4574465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74879" y="1434405"/>
            <a:ext cx="495724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DATA SCIENCE · GROUP 6 · UWE BRISTOL · 2026-2027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808559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Offline Voice-Driven Appointment Booking Using Fine-Tuned Small Language Models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61475" y="457289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3B-parameter model, fine-tuned on 600 domain samples, achieve acceptable accuracy for structured appointment management with no cloud connection required?</a:t>
            </a:r>
            <a:endParaRPr lang="en-US" sz="145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1 / 11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837DD3-FE81-D82B-6391-2CD3D8E65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2585"/>
            <a:ext cx="1457325" cy="71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460"/>
            <a:ext cx="1796410" cy="223341"/>
          </a:xfrm>
          <a:prstGeom prst="roundRect">
            <a:avLst>
              <a:gd name="adj" fmla="val 19906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0848" y="578148"/>
            <a:ext cx="2247248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0: PROBLEM 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8810"/>
            <a:ext cx="8063802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Existing Voice Booking Systems Fail SMEs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97" y="1371898"/>
            <a:ext cx="5125585" cy="4583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1464469"/>
            <a:ext cx="264689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Motivation for the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63523" y="1774031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constraints create the need for an offline voice booking system that handles structured appointments reliably, affordably, and without sending sensitive data to the cloud.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523" y="2406551"/>
            <a:ext cx="2346167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63523" y="2716113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small fine-tuned model replace cloud NLU for structured voice booking with no internet required?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523" y="3168650"/>
            <a:ext cx="242177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Research Contribution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63523" y="3478213"/>
            <a:ext cx="5273047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pipeline running entirely on CPU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a 3B model with 600 synthetic samples for structured JSON actions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models achieve near-perfect structured accuracy with domain-specific training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523" y="4176403"/>
            <a:ext cx="2474355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Ethical and Legal Notes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57173" y="4415458"/>
            <a:ext cx="5273047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personal data leaves the device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training data avoids privacy risks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storage of caller audio or metadata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1475" y="5440859"/>
            <a:ext cx="3388136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61475" y="5927130"/>
            <a:ext cx="10868745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Kraus et al. (2022) "Artificial intelligence in small and medium enterprises" - J. Small Bus. Manage.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Nguyen et al. (2022) "Understanding SME adoption of AI: A TOE framework" - Technol. Forecast. Soc. Change</a:t>
            </a:r>
            <a:endParaRPr lang="en-US" sz="10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270"/>
            <a:ext cx="768340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Rule-Based IVR to Fine-Tuned Language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89498" y="1060847"/>
            <a:ext cx="12700" cy="4076303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4" name="Shape 2"/>
          <p:cNvSpPr/>
          <p:nvPr/>
        </p:nvSpPr>
        <p:spPr>
          <a:xfrm>
            <a:off x="5889775" y="1177528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6054822" y="1142851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4222049" y="1098451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1316037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Speech - Mozilla's open-source neural speech recognition, moving away from speaker-dependent systems.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3148" y="1741785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9" name="Shape 7"/>
          <p:cNvSpPr/>
          <p:nvPr/>
        </p:nvSpPr>
        <p:spPr>
          <a:xfrm>
            <a:off x="6054822" y="1707108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6533490" y="1662708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3490" y="1880295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LibriSpeech benchmark (Panayotov et al.) - Standardized evaluation dataset enabling reproducible speech recognition research.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89775" y="2261592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4822" y="2226915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4" name="Text 12"/>
          <p:cNvSpPr/>
          <p:nvPr/>
        </p:nvSpPr>
        <p:spPr>
          <a:xfrm>
            <a:off x="4222049" y="2182515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2400102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(Hu et al.) - Parameter-efficient fine-tuning method enabling adaptation of large models with minimal compute.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3148" y="2781399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4822" y="2746722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490" y="2702322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3490" y="2919909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Whisper, OpenAI (Radford et al.) - Robust, multilingual speech recognition trained on 680k hours of web audio.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89775" y="3301206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4822" y="3266529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22" name="Text 20"/>
          <p:cNvSpPr/>
          <p:nvPr/>
        </p:nvSpPr>
        <p:spPr>
          <a:xfrm>
            <a:off x="4222049" y="3222129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475" y="3439716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QLoRA (Dettmers et al.) - Llama 3.2 3B, Meta - Quantized LoRA enabling fine-tuning of 3B models on consumer GPUs.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3148" y="3821013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4822" y="3786336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26" name="Text 24"/>
          <p:cNvSpPr/>
          <p:nvPr/>
        </p:nvSpPr>
        <p:spPr>
          <a:xfrm>
            <a:off x="6533490" y="3741936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3490" y="3959523"/>
            <a:ext cx="49967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Faster-Whisper, SYSTRAN - Optimized Whisper inference for CPU-only deployment.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89775" y="4340820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54822" y="4306143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30" name="Text 28"/>
          <p:cNvSpPr/>
          <p:nvPr/>
        </p:nvSpPr>
        <p:spPr>
          <a:xfrm>
            <a:off x="4222049" y="4261743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1475" y="4479330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- Offline voice-driven appointment booking using fine-tuned 3B models on commodity hardware.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1475" y="5208389"/>
            <a:ext cx="114783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neural speech recognition (2012) to fine-tuned small models (2026), the field has shifted toward domain-adaptive models that can run offline.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1475" y="5441553"/>
            <a:ext cx="2907434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1475" y="5823744"/>
            <a:ext cx="10868745" cy="458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 [Whisper].</a:t>
            </a:r>
            <a:endParaRPr lang="en-US" sz="105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ICLR.</a:t>
            </a:r>
            <a:endParaRPr lang="en-US" sz="105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</a:t>
            </a:r>
            <a:endParaRPr lang="en-US" sz="105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515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Phase 3 (Fine-Tuned LLM). Phase 4 (TTS) and backend calendar cache are also implemented.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988516"/>
            <a:ext cx="5950496" cy="488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System Pipeline: 4 Phases</a:t>
            </a:r>
            <a:endParaRPr lang="en-US" sz="3050" dirty="0"/>
          </a:p>
        </p:txBody>
      </p:sp>
      <p:sp>
        <p:nvSpPr>
          <p:cNvPr id="20" name="Text 14"/>
          <p:cNvSpPr/>
          <p:nvPr/>
        </p:nvSpPr>
        <p:spPr>
          <a:xfrm>
            <a:off x="661475" y="4670227"/>
            <a:ext cx="10868745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phase runs on CPU with no cloud dependency. The pipeline is GDPR-compliant and deployable on standard hardware. Total latency is approximately 4 seconds.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61475" y="5271691"/>
            <a:ext cx="3735393" cy="3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450" dirty="0"/>
          </a:p>
        </p:txBody>
      </p:sp>
      <p:sp>
        <p:nvSpPr>
          <p:cNvPr id="22" name="Text 16"/>
          <p:cNvSpPr/>
          <p:nvPr/>
        </p:nvSpPr>
        <p:spPr>
          <a:xfrm>
            <a:off x="661475" y="5838230"/>
            <a:ext cx="10868745" cy="46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 [Whisper/Faster-Whisper].</a:t>
            </a:r>
            <a:endParaRPr lang="en-US" sz="120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</a:t>
            </a:r>
            <a:endParaRPr lang="en-US" sz="12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4 /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9848B-D241-70A9-94DF-603C2039D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19" y="1452736"/>
            <a:ext cx="10729341" cy="4209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250" fill="hold"/>
                                        <p:tgtEl>
                                          <p:spTgt spid="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-0.00052 -0.0713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0273"/>
            <a:ext cx="1956148" cy="243681"/>
          </a:xfrm>
          <a:prstGeom prst="roundRect">
            <a:avLst>
              <a:gd name="adj" fmla="val 19547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6503" y="642739"/>
            <a:ext cx="2395676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SPEECH RECOGNITION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86420"/>
            <a:ext cx="7452233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Speech Recognition: Benchmark Results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34" y="1511003"/>
            <a:ext cx="4891427" cy="3621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2245" y="1617266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Faster-Whisper on CPU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72245" y="1955998"/>
            <a:ext cx="4364226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+mj-lt"/>
                <a:ea typeface="Inter" pitchFamily="34" charset="-122"/>
                <a:cs typeface="Inter" pitchFamily="34" charset="-120"/>
              </a:rPr>
              <a:t>Faster-Whisper runs Whisper’s encoder-decoder on-device. Audio is converted to a log-mel spectrogram, encoded through stacked attention layers (diagram), and decoded to text. Two model sizes were benchmarked: tiny (17.3% WER, 0.53 s/utterance) and small (8.5% WER, 4.5 s/utterance).</a:t>
            </a:r>
            <a:endParaRPr lang="en-US" sz="120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72245" y="3266182"/>
            <a:ext cx="4364226" cy="1055886"/>
          </a:xfrm>
          <a:prstGeom prst="roundRect">
            <a:avLst>
              <a:gd name="adj" fmla="val 5639"/>
            </a:avLst>
          </a:prstGeom>
          <a:solidFill>
            <a:srgbClr val="CCEE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926" y="3471664"/>
            <a:ext cx="177200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2807" y="3397250"/>
            <a:ext cx="376198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+mj-lt"/>
                <a:ea typeface="Inter Bold" pitchFamily="34" charset="-122"/>
                <a:cs typeface="Inter Bold" pitchFamily="34" charset="-120"/>
              </a:rPr>
              <a:t>Key trade-off:</a:t>
            </a:r>
            <a:r>
              <a:rPr lang="en-US" sz="1200" dirty="0">
                <a:solidFill>
                  <a:srgbClr val="000000"/>
                </a:solidFill>
                <a:latin typeface="+mj-lt"/>
                <a:ea typeface="Inter" pitchFamily="34" charset="-122"/>
                <a:cs typeface="Inter" pitchFamily="34" charset="-120"/>
              </a:rPr>
              <a:t> Small at 4.5 s/utterance exceeds the ~1s perception threshold for live calls. Tiny at 0.53 s fits. The 8.8 pp WER gap is partly offset by downstream NER and LLM context inference.</a:t>
            </a:r>
            <a:endParaRPr lang="en-US" sz="120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72245" y="4441627"/>
            <a:ext cx="436422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+mj-lt"/>
                <a:ea typeface="Inter" pitchFamily="34" charset="-122"/>
                <a:cs typeface="Inter" pitchFamily="34" charset="-120"/>
              </a:rPr>
              <a:t>Real telephony WER is typically 15-25% due to noise and accents. Downstream NER and LLM steps absorb many word-level errors through contextual inference.</a:t>
            </a:r>
            <a:endParaRPr lang="en-US" sz="1200" dirty="0">
              <a:latin typeface="+mj-l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1475" y="5292030"/>
            <a:ext cx="3586569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61475" y="5823644"/>
            <a:ext cx="1086874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ICML.</a:t>
            </a:r>
            <a:endParaRPr lang="en-US" sz="12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 et al. (2021) "Real-time inference in production ML systems" - VLDB (latency threshold justification)</a:t>
            </a:r>
            <a:endParaRPr lang="en-US" sz="12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Vaswani et al. (2017) "Attention is all you need" - NeurIPS. [Transformer architecture used by Whisper]</a:t>
            </a:r>
            <a:endParaRPr lang="en-US" sz="12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6801"/>
            <a:ext cx="2547874" cy="203398"/>
          </a:xfrm>
          <a:prstGeom prst="roundRect">
            <a:avLst>
              <a:gd name="adj" fmla="val 20296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633611"/>
            <a:ext cx="301022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FINE-TUNED LLM - EVALUATION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32048"/>
            <a:ext cx="5835008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Fine-Tuning and Evaluation Design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655961"/>
            <a:ext cx="2222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QLoRA Method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1986032"/>
            <a:ext cx="5284556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QLoRA quantises the backbone to 4-bit NF4 (2 GB), then trains rank-16 LoRA adapters. Settings: rank=16, lora_alpha=32.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4" y="2745581"/>
            <a:ext cx="2222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4" y="3139460"/>
            <a:ext cx="5284556" cy="1641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 training samples, 60 validation samples per model. Separate 480-sample evaluation set: 120 samples per condition (Phi-3 vanilla, Phi-3 fine-tuned, Llama 3.2 vanilla, Llama 3.2 fine-tuned).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time: 60-70 minutes per model on Kaggle T4 GPU (free tier). Data: 600 synthetic samples (Claude Opus-4, Anthropic 2024). Primary metric: action accuracy.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92" y="325464"/>
            <a:ext cx="6113153" cy="61557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475" y="5086747"/>
            <a:ext cx="318960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1475" y="5528965"/>
            <a:ext cx="10868745" cy="921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ICLR.</a:t>
            </a:r>
            <a:endParaRPr lang="en-US" sz="120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NeurIPS.</a:t>
            </a:r>
            <a:endParaRPr lang="en-US" sz="120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Research (2024) "Phi-3 technical report" - arXiv:2404.14219.</a:t>
            </a:r>
            <a:endParaRPr lang="en-US" sz="120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AI (2024) "Llama 3.2: Open Foundation and Gradient Models"</a:t>
            </a:r>
            <a:endParaRPr lang="en-US" sz="12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9826"/>
            <a:ext cx="647882" cy="243681"/>
          </a:xfrm>
          <a:prstGeom prst="roundRect">
            <a:avLst>
              <a:gd name="adj" fmla="val 1954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12291"/>
            <a:ext cx="108741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5973"/>
            <a:ext cx="10789968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Fine-Tuning Transforms Failure into Near-Perfect Accuracy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0113"/>
            <a:ext cx="5909806" cy="38202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4550" y="1952473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H1 Confirmed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20802" y="2272729"/>
            <a:ext cx="452525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models exceed the 90% accuracy threshold.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14551" y="2549520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H2 Confirmed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20802" y="2811346"/>
            <a:ext cx="452525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fail completely (0.0% to 0.4%).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20802" y="3140852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H3 Confirmed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20802" y="3466709"/>
            <a:ext cx="391566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respond in natural language instead of JSON. Fine-tuning on 600 examples teaches the model to produce valid structured output every time. Task-specific training, not model size, determines suitability for structured NLU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14551" y="4647290"/>
            <a:ext cx="3915669" cy="659011"/>
          </a:xfrm>
          <a:prstGeom prst="roundRect">
            <a:avLst>
              <a:gd name="adj" fmla="val 9035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231" y="4852772"/>
            <a:ext cx="177200" cy="1416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75112" y="4778358"/>
            <a:ext cx="33134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3.2 fine-tuned outperforms Phi-3 fine-tuned.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8916" y="5457973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1475" y="5754092"/>
            <a:ext cx="10868745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NeurIPS.</a:t>
            </a:r>
            <a:endParaRPr lang="en-US" sz="12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</a:t>
            </a:r>
            <a:endParaRPr lang="en-US" sz="12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545"/>
            <a:ext cx="2592025" cy="243681"/>
          </a:xfrm>
          <a:prstGeom prst="roundRect">
            <a:avLst>
              <a:gd name="adj" fmla="val 1954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59011"/>
            <a:ext cx="303155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TEXT-TO-SPEECH &amp; INTEGRATION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02692"/>
            <a:ext cx="433079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in Action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09" y="1398213"/>
            <a:ext cx="9740837" cy="5148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77919" y="2073077"/>
            <a:ext cx="269481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Conversation Transcript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77919" y="2411809"/>
            <a:ext cx="615855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captures the name, checks the calendar, suggests a slot, confirms the booking, and plays a spoken TTS response - all on CPU, no cloud.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77919" y="2928243"/>
            <a:ext cx="6158552" cy="460573"/>
          </a:xfrm>
          <a:prstGeom prst="roundRect">
            <a:avLst>
              <a:gd name="adj" fmla="val 12928"/>
            </a:avLst>
          </a:prstGeom>
          <a:solidFill>
            <a:srgbClr val="CCEE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599" y="3133725"/>
            <a:ext cx="177200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38481" y="3059311"/>
            <a:ext cx="6165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demo: [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link to demo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067473"/>
            <a:ext cx="2637466" cy="10488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156" y="4209157"/>
            <a:ext cx="23541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"Book me in Monday"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5202" y="4067473"/>
            <a:ext cx="2637466" cy="10488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46882" y="4209157"/>
            <a:ext cx="23541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"Next available slot is Monday at 9:00 AM. Does that work?"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928" y="4067473"/>
            <a:ext cx="2637466" cy="10488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0609" y="4209157"/>
            <a:ext cx="23541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"Yes"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655" y="4067473"/>
            <a:ext cx="2637565" cy="104884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034336" y="4209157"/>
            <a:ext cx="23542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"Confirmed. Your appointment is booked for Monday 9:00 AM."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61475" y="5275759"/>
            <a:ext cx="3586569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661475" y="5807373"/>
            <a:ext cx="10868745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Shen et al. (2021) "Towards End-to-End Speech Recognition with Hierarchical Phoneme and Grapheme Representations" - End-to-end pipeline design.</a:t>
            </a:r>
            <a:endParaRPr lang="en-US" sz="12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 et al. (2019) "Unified Voice Conversion with Conditional VAE and Adversarial Learning" - TTS synthesis.</a:t>
            </a:r>
            <a:endParaRPr lang="en-US" sz="12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-0.29414 -0.1967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14" y="-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93998"/>
            <a:ext cx="2458281" cy="355203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50652"/>
            <a:ext cx="284105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24806"/>
            <a:ext cx="8391613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and Future Directions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525350" y="2528491"/>
            <a:ext cx="5476043" cy="3135412"/>
          </a:xfrm>
          <a:prstGeom prst="roundRect">
            <a:avLst>
              <a:gd name="adj" fmla="val 4341"/>
            </a:avLst>
          </a:prstGeom>
          <a:solidFill>
            <a:srgbClr val="F3F8FC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717502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4357" y="3216573"/>
            <a:ext cx="5098029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 tested only on clean speech - WER is higher on telephony audio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Faster-Whisper Tiny model was used instead of more advanced model due to hardware limit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is a mock - no integration with real practice systems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 is synthetic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latency is approximately 3.5 seconds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2528491"/>
            <a:ext cx="5476043" cy="3135412"/>
          </a:xfrm>
          <a:prstGeom prst="roundRect">
            <a:avLst>
              <a:gd name="adj" fmla="val 4341"/>
            </a:avLst>
          </a:prstGeom>
          <a:solidFill>
            <a:srgbClr val="F3F8FC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2717502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85658" y="3216573"/>
            <a:ext cx="5098029" cy="226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telephony integration (SIP/PSTN)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with GPT-4o on structured output quality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Website develop	development (in progress)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Web frontend integration (in progress) 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WER and booking metrics dashboard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REST API backend (FastAPI + SQLite) ready for frontend connection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endParaRPr lang="en-US" sz="1450" dirty="0"/>
          </a:p>
          <a:p>
            <a:pPr algn="l">
              <a:lnSpc>
                <a:spcPct val="133000"/>
              </a:lnSpc>
              <a:buSzPct val="100000"/>
            </a:pPr>
            <a:endParaRPr lang="en-US" sz="145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409204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Contributions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1476" y="2312888"/>
            <a:ext cx="10856046" cy="3328307"/>
          </a:xfrm>
          <a:prstGeom prst="roundRect">
            <a:avLst>
              <a:gd name="adj" fmla="val 22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2319238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6931" y="2438995"/>
            <a:ext cx="34851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6880" y="2438995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Contributions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7825" y="2861171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6931" y="2980928"/>
            <a:ext cx="34851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Karan Homayounfar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6880" y="2980928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design, fine-tuning, backend API, evaluation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825" y="3403104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6931" y="3522861"/>
            <a:ext cx="34851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Christopher Dixon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16880" y="3522861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evaluation with real participants, business case research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825" y="3945037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6931" y="4064794"/>
            <a:ext cx="34851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Chukwunonye Peter Ekpedo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6880" y="4064794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frontend, API integration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7825" y="4486971"/>
            <a:ext cx="10856046" cy="5416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6931" y="4606727"/>
            <a:ext cx="287558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Iyenoma Goodnews Osabuohien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16880" y="4606727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testing and documentation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5099262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56931" y="5260175"/>
            <a:ext cx="34851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Theophilus Ugochuku Azizeli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116880" y="5260175"/>
            <a:ext cx="7827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review, frontend development</a:t>
            </a:r>
            <a:endParaRPr lang="en-US" sz="1450" dirty="0"/>
          </a:p>
        </p:txBody>
      </p:sp>
      <p:sp>
        <p:nvSpPr>
          <p:cNvPr id="24" name="Shape 0"/>
          <p:cNvSpPr/>
          <p:nvPr/>
        </p:nvSpPr>
        <p:spPr>
          <a:xfrm>
            <a:off x="661475" y="1377752"/>
            <a:ext cx="4574465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25" name="Text 1"/>
          <p:cNvSpPr/>
          <p:nvPr/>
        </p:nvSpPr>
        <p:spPr>
          <a:xfrm>
            <a:off x="667825" y="1078099"/>
            <a:ext cx="495724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DATA SCIENCE · GROUP 6 · UWE BRISTOL · 2026-2027</a:t>
            </a:r>
            <a:endParaRPr lang="en-US" sz="115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6061"/>
            <a:ext cx="4574465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4879" y="1242715"/>
            <a:ext cx="495724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DATA SCIENCE · GROUP 6 · UWE BRISTOL · 2026-2027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16869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1475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 · Fine-Tuning Turns Failure into Reliability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6832" y="3449439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score 0.0-0.4%. Fine-tuned models score 98.1-99.8%. The improvement is absolute.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2716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 · 600 Synthetic Samples Are Sufficient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42716" y="344943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takes 60-70 minutes on a free Kaggle GPU.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 · Offline Deployment Is Viable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228600" y="3449439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pipeline runs on CPU with no cloud dependency, satisfying GDPR constraints.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50671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models are not unsuitable for structured tasks. They are undertrained for them. Domain-specific fine-tuning closes the gap.</a:t>
            </a:r>
            <a:endParaRPr lang="en-US" sz="1600" dirty="0"/>
          </a:p>
        </p:txBody>
      </p:sp>
      <p:sp>
        <p:nvSpPr>
          <p:cNvPr id="999" name="SlideNum"/>
          <p:cNvSpPr>
            <a:spLocks noGrp="1"/>
          </p:cNvSpPr>
          <p:nvPr/>
        </p:nvSpPr>
        <p:spPr>
          <a:xfrm>
            <a:off x="10600000" y="6450000"/>
            <a:ext cx="1400000" cy="2800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</p:spPr>
        <p:txBody>
          <a:bodyPr anchor="ctr"/>
          <a:lstStyle/>
          <a:p>
            <a:pPr algn="ctr"/>
            <a:r>
              <a:rPr lang="en-GB" sz="1000" b="0" dirty="0">
                <a:solidFill>
                  <a:srgbClr val="007EBD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1482</Words>
  <Application>Microsoft Office PowerPoint</Application>
  <PresentationFormat>Widescreen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Inter</vt:lpstr>
      <vt:lpstr>Inter Bold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Homayounfar</dc:creator>
  <cp:lastModifiedBy>Karan Homayounfar</cp:lastModifiedBy>
  <cp:revision>12</cp:revision>
  <dcterms:created xsi:type="dcterms:W3CDTF">2026-06-29T00:36:32Z</dcterms:created>
  <dcterms:modified xsi:type="dcterms:W3CDTF">2026-06-29T12:55:45Z</dcterms:modified>
</cp:coreProperties>
</file>